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720" y="0"/>
            <a:ext cx="4144975" cy="6858000"/>
          </a:xfrm>
          <a:prstGeom prst="rect">
            <a:avLst/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46720" y="1097280"/>
            <a:ext cx="164592" cy="109728"/>
          </a:xfrm>
          <a:prstGeom prst="rect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46720" y="1325880"/>
            <a:ext cx="484632" cy="109728"/>
          </a:xfrm>
          <a:prstGeom prst="rect">
            <a:avLst/>
          </a:prstGeom>
          <a:solidFill>
            <a:srgbClr val="5ED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46720" y="1554480"/>
            <a:ext cx="804671" cy="109728"/>
          </a:xfrm>
          <a:prstGeom prst="rect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783080"/>
            <a:ext cx="1124711" cy="109728"/>
          </a:xfrm>
          <a:prstGeom prst="rect">
            <a:avLst/>
          </a:prstGeom>
          <a:solidFill>
            <a:srgbClr val="5ED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2377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ED1CB"/>
                </a:solidFill>
                <a:latin typeface="Calibri"/>
              </a:rPr>
              <a:t>REAL-TIME · TWO-WAY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83464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EF2"/>
                </a:solidFill>
                <a:latin typeface="Calibri"/>
              </a:rPr>
              <a:t>Webcam signs become speech.
Voice becomes sign visuals.
Emergency help, one tap.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371600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</a:pPr>
            <a:r>
              <a:rPr sz="1100" b="1">
                <a:solidFill>
                  <a:srgbClr val="0B1C2C"/>
                </a:solidFill>
                <a:latin typeface="Calibri"/>
              </a:rPr>
              <a:t>ACCESSIBILITY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11680"/>
            <a:ext cx="6858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Sign Language
Communication Bridge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93192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AB0C0"/>
                </a:solidFill>
                <a:latin typeface="Calibri"/>
              </a:rPr>
              <a:t>Dynamic gesture recognition · LLM sentence polish · Speech ↔ Sign dialogue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754880"/>
            <a:ext cx="2011680" cy="64008"/>
          </a:xfrm>
          <a:prstGeom prst="rect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0292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EF2"/>
                </a:solidFill>
                <a:latin typeface="Calibri"/>
              </a:rPr>
              <a:t>Team of 3  ·  Python · MediaPipe · PyTorch · Streamlit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9436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B0C0"/>
                </a:solidFill>
                <a:latin typeface="Calibri"/>
              </a:rPr>
              <a:t>Project Presentation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1280160" cy="54864"/>
          </a:xfrm>
          <a:prstGeom prst="rect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B0C0"/>
                </a:solidFill>
                <a:latin typeface="Calibri"/>
              </a:rPr>
              <a:t>What we will cover today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486400" cy="960120"/>
          </a:xfrm>
          <a:prstGeom prst="roundRect">
            <a:avLst>
              <a:gd name="adj" fmla="val 8000"/>
            </a:avLst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8191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A6A0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58191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2024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B0C0"/>
                </a:solidFill>
                <a:latin typeface="Calibri"/>
              </a:rPr>
              <a:t>Why static A–Z demos fall short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486400" cy="960120"/>
          </a:xfrm>
          <a:prstGeom prst="roundRect">
            <a:avLst>
              <a:gd name="adj" fmla="val 8000"/>
            </a:avLst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58191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A6A0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158191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Our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192024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B0C0"/>
                </a:solidFill>
                <a:latin typeface="Calibri"/>
              </a:rPr>
              <a:t>Two-way bridge with temporal AI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560320"/>
            <a:ext cx="5486400" cy="960120"/>
          </a:xfrm>
          <a:prstGeom prst="roundRect">
            <a:avLst>
              <a:gd name="adj" fmla="val 8000"/>
            </a:avLst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72491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A6A0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72491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Differentiators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06324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B0C0"/>
                </a:solidFill>
                <a:latin typeface="Calibri"/>
              </a:rPr>
              <a:t>What makes this project stand out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560320"/>
            <a:ext cx="5486400" cy="960120"/>
          </a:xfrm>
          <a:prstGeom prst="roundRect">
            <a:avLst>
              <a:gd name="adj" fmla="val 8000"/>
            </a:avLst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72491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A6A0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272491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Architecture &amp; Stack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306324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B0C0"/>
                </a:solidFill>
                <a:latin typeface="Calibri"/>
              </a:rPr>
              <a:t>How the system is built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703320"/>
            <a:ext cx="5486400" cy="960120"/>
          </a:xfrm>
          <a:prstGeom prst="roundRect">
            <a:avLst>
              <a:gd name="adj" fmla="val 8000"/>
            </a:avLst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86791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A6A0"/>
                </a:solidFill>
                <a:latin typeface="Calibr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386791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Modules &amp; Workflow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20624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B0C0"/>
                </a:solidFill>
                <a:latin typeface="Calibri"/>
              </a:rPr>
              <a:t>From keypoints to spoken sentences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703320"/>
            <a:ext cx="5486400" cy="960120"/>
          </a:xfrm>
          <a:prstGeom prst="roundRect">
            <a:avLst>
              <a:gd name="adj" fmla="val 8000"/>
            </a:avLst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86791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A6A0"/>
                </a:solidFill>
                <a:latin typeface="Calibr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386791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Research &amp; Comparison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420624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B0C0"/>
                </a:solidFill>
                <a:latin typeface="Calibri"/>
              </a:rPr>
              <a:t>How we chose the best approach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4846320"/>
            <a:ext cx="5486400" cy="960120"/>
          </a:xfrm>
          <a:prstGeom prst="roundRect">
            <a:avLst>
              <a:gd name="adj" fmla="val 8000"/>
            </a:avLst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01091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A6A0"/>
                </a:solidFill>
                <a:latin typeface="Calibri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501091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Team Plan &amp; Roadmap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534924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B0C0"/>
                </a:solidFill>
                <a:latin typeface="Calibri"/>
              </a:rPr>
              <a:t>3-person execution strategy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4846320"/>
            <a:ext cx="5486400" cy="960120"/>
          </a:xfrm>
          <a:prstGeom prst="roundRect">
            <a:avLst>
              <a:gd name="adj" fmla="val 8000"/>
            </a:avLst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501091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A6A0"/>
                </a:solidFill>
                <a:latin typeface="Calibri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8040" y="501091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Demo &amp; Impact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78040" y="534924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B0C0"/>
                </a:solidFill>
                <a:latin typeface="Calibri"/>
              </a:rPr>
              <a:t>What success looks like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B0C0"/>
                </a:solidFill>
                <a:latin typeface="Calibri"/>
              </a:rPr>
              <a:t>Sign Language Communication Bridge  ·  Team Project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B0C0"/>
                </a:solidFill>
                <a:latin typeface="Calibr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1280160" cy="54864"/>
          </a:xfrm>
          <a:prstGeom prst="rect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B0C0"/>
                </a:solidFill>
                <a:latin typeface="Calibri"/>
              </a:rPr>
              <a:t>Communication gaps need more than finger-spelling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2743200" cy="3840480"/>
          </a:xfrm>
          <a:prstGeom prst="roundRect">
            <a:avLst>
              <a:gd name="adj" fmla="val 8000"/>
            </a:avLst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63040" y="1965960"/>
            <a:ext cx="640080" cy="640080"/>
          </a:xfrm>
          <a:prstGeom prst="ellipse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1C2C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260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Static A–Z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74904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AB0C0"/>
                </a:solidFill>
                <a:latin typeface="Calibri"/>
              </a:rPr>
              <a:t>Most demos recognize letters, not real words or phrases used in conversation.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554480"/>
            <a:ext cx="2743200" cy="3840480"/>
          </a:xfrm>
          <a:prstGeom prst="roundRect">
            <a:avLst>
              <a:gd name="adj" fmla="val 8000"/>
            </a:avLst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43400" y="1965960"/>
            <a:ext cx="640080" cy="640080"/>
          </a:xfrm>
          <a:prstGeom prst="ellipse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1C2C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9260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One-way systems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74904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AB0C0"/>
                </a:solidFill>
                <a:latin typeface="Calibri"/>
              </a:rPr>
              <a:t>Sign→text exists in isolation; hearing users rarely get a clear reverse path.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554480"/>
            <a:ext cx="2743200" cy="3840480"/>
          </a:xfrm>
          <a:prstGeom prst="roundRect">
            <a:avLst>
              <a:gd name="adj" fmla="val 8000"/>
            </a:avLst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23760" y="1965960"/>
            <a:ext cx="640080" cy="640080"/>
          </a:xfrm>
          <a:prstGeom prst="ellipse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1C2C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9260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Broken grammar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74904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AB0C0"/>
                </a:solidFill>
                <a:latin typeface="Calibri"/>
              </a:rPr>
              <a:t>Gloss streams like “I go hospital” are hard for listeners without reconstruction.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554480"/>
            <a:ext cx="2743200" cy="3840480"/>
          </a:xfrm>
          <a:prstGeom prst="roundRect">
            <a:avLst>
              <a:gd name="adj" fmla="val 8000"/>
            </a:avLst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104120" y="1965960"/>
            <a:ext cx="640080" cy="640080"/>
          </a:xfrm>
          <a:prstGeom prst="ellipse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1C2C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9260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No urgency path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374904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AB0C0"/>
                </a:solidFill>
                <a:latin typeface="Calibri"/>
              </a:rPr>
              <a:t>Emergency intent needs instant, high-confidence UI + audio — not a slow pipeline.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B0C0"/>
                </a:solidFill>
                <a:latin typeface="Calibri"/>
              </a:rPr>
              <a:t>Sign Language Communication Bridge  ·  Team Project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B0C0"/>
                </a:solidFill>
                <a:latin typeface="Calibr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Our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1280160" cy="54864"/>
          </a:xfrm>
          <a:prstGeom prst="rect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B0C0"/>
                </a:solidFill>
                <a:latin typeface="Calibri"/>
              </a:rPr>
              <a:t>A real-time two-way communication bridge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EEF2"/>
                </a:solidFill>
                <a:latin typeface="Calibri"/>
              </a:rPr>
              <a:t>Translate continuous dynamic gestures into natural spoken language — and convert voice back into sign visuals.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03120"/>
            <a:ext cx="5486400" cy="3474720"/>
          </a:xfrm>
          <a:prstGeom prst="roundRect">
            <a:avLst>
              <a:gd name="adj" fmla="val 8000"/>
            </a:avLst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2331720"/>
            <a:ext cx="2011680" cy="320040"/>
          </a:xfrm>
          <a:prstGeom prst="roundRect">
            <a:avLst>
              <a:gd name="adj" fmla="val 50000"/>
            </a:avLst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</a:pPr>
            <a:r>
              <a:rPr sz="1100" b="1">
                <a:solidFill>
                  <a:srgbClr val="0B1C2C"/>
                </a:solidFill>
                <a:latin typeface="Calibri"/>
              </a:rPr>
              <a:t>SIGN  →  SPEECH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80360"/>
            <a:ext cx="49377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E8EEF2"/>
                </a:solidFill>
                <a:latin typeface="Calibri"/>
              </a:rPr>
              <a:t>1.  Webcam capture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E8EEF2"/>
                </a:solidFill>
                <a:latin typeface="Calibri"/>
              </a:rPr>
              <a:t>2.  MediaPipe keypoints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E8EEF2"/>
                </a:solidFill>
                <a:latin typeface="Calibri"/>
              </a:rPr>
              <a:t>3.  30-frame LSTM window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E8EEF2"/>
                </a:solidFill>
                <a:latin typeface="Calibri"/>
              </a:rPr>
              <a:t>4.  Debounced word tokens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E8EEF2"/>
                </a:solidFill>
                <a:latin typeface="Calibri"/>
              </a:rPr>
              <a:t>5.  LLM grammar polish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E8EEF2"/>
                </a:solidFill>
                <a:latin typeface="Calibri"/>
              </a:rPr>
              <a:t>6.  Text-to-Speech output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103120"/>
            <a:ext cx="5486400" cy="3474720"/>
          </a:xfrm>
          <a:prstGeom prst="roundRect">
            <a:avLst>
              <a:gd name="adj" fmla="val 8000"/>
            </a:avLst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92240" y="2331720"/>
            <a:ext cx="2194560" cy="320040"/>
          </a:xfrm>
          <a:prstGeom prst="roundRect">
            <a:avLst>
              <a:gd name="adj" fmla="val 50000"/>
            </a:avLst>
          </a:prstGeom>
          <a:solidFill>
            <a:srgbClr val="F0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</a:pPr>
            <a:r>
              <a:rPr sz="1100" b="1">
                <a:solidFill>
                  <a:srgbClr val="0B1C2C"/>
                </a:solidFill>
                <a:latin typeface="Calibri"/>
              </a:rPr>
              <a:t>SPEECH  →  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880360"/>
            <a:ext cx="493776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E8EEF2"/>
                </a:solidFill>
                <a:latin typeface="Calibri"/>
              </a:rPr>
              <a:t>1.  Microphone input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E8EEF2"/>
                </a:solidFill>
                <a:latin typeface="Calibri"/>
              </a:rPr>
              <a:t>2.  SpeechRecognition / Whisper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E8EEF2"/>
                </a:solidFill>
                <a:latin typeface="Calibri"/>
              </a:rPr>
              <a:t>3.  Keyword extraction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E8EEF2"/>
                </a:solidFill>
                <a:latin typeface="Calibri"/>
              </a:rPr>
              <a:t>4.  Sign GIF / animation match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E8EEF2"/>
                </a:solidFill>
                <a:latin typeface="Calibri"/>
              </a:rPr>
              <a:t>5.  Split-screen visual reply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E8EEF2"/>
                </a:solidFill>
                <a:latin typeface="Calibri"/>
              </a:rPr>
              <a:t>6.  Seamless dialogue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B0C0"/>
                </a:solidFill>
                <a:latin typeface="Calibri"/>
              </a:rPr>
              <a:t>Sign Language Communication Bridge  ·  Team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B0C0"/>
                </a:solidFill>
                <a:latin typeface="Calibri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High-Impact Differentiators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1280160" cy="54864"/>
          </a:xfrm>
          <a:prstGeom prst="rect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B0C0"/>
                </a:solidFill>
                <a:latin typeface="Calibri"/>
              </a:rPr>
              <a:t>Four capabilities most student projects skip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11155680" cy="1005840"/>
          </a:xfrm>
          <a:prstGeom prst="roundRect">
            <a:avLst>
              <a:gd name="adj" fmla="val 8000"/>
            </a:avLst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27632"/>
            <a:ext cx="640080" cy="502920"/>
          </a:xfrm>
          <a:prstGeom prst="roundRect">
            <a:avLst>
              <a:gd name="adj" fmla="val 20000"/>
            </a:avLst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B1C2C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5361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Dynamic Temporal Gestures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8745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B0C0"/>
                </a:solidFill>
                <a:latin typeface="Calibri"/>
              </a:rPr>
              <a:t>Recognize multi-frame words &amp; phrases — Thank you, Need help, Water — not only A–Z.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514600"/>
            <a:ext cx="11155680" cy="1005840"/>
          </a:xfrm>
          <a:prstGeom prst="roundRect">
            <a:avLst>
              <a:gd name="adj" fmla="val 8000"/>
            </a:avLst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2770632"/>
            <a:ext cx="640080" cy="502920"/>
          </a:xfrm>
          <a:prstGeom prst="roundRect">
            <a:avLst>
              <a:gd name="adj" fmla="val 20000"/>
            </a:avLst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B1C2C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6791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Two-Way Communication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0175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B0C0"/>
                </a:solidFill>
                <a:latin typeface="Calibri"/>
              </a:rPr>
              <a:t>Full dialogue: signs become speech; speech becomes sign visuals on screen.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657600"/>
            <a:ext cx="11155680" cy="1005840"/>
          </a:xfrm>
          <a:prstGeom prst="roundRect">
            <a:avLst>
              <a:gd name="adj" fmla="val 8000"/>
            </a:avLst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3913632"/>
            <a:ext cx="640080" cy="502920"/>
          </a:xfrm>
          <a:prstGeom prst="roundRect">
            <a:avLst>
              <a:gd name="adj" fmla="val 20000"/>
            </a:avLst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B1C2C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8221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LLM Sentence Reconstruction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1605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B0C0"/>
                </a:solidFill>
                <a:latin typeface="Calibri"/>
              </a:rPr>
              <a:t>Gloss tokens → natural English via Ollama / Groq (with offline rule fallback).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800600"/>
            <a:ext cx="11155680" cy="1005840"/>
          </a:xfrm>
          <a:prstGeom prst="roundRect">
            <a:avLst>
              <a:gd name="adj" fmla="val 8000"/>
            </a:avLst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5056632"/>
            <a:ext cx="640080" cy="502920"/>
          </a:xfrm>
          <a:prstGeom prst="roundRect">
            <a:avLst>
              <a:gd name="adj" fmla="val 20000"/>
            </a:avLst>
          </a:prstGeom>
          <a:solidFill>
            <a:srgbClr val="E8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9651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Emergency Quick-Action Mode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3035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B0C0"/>
                </a:solidFill>
                <a:latin typeface="Calibri"/>
              </a:rPr>
              <a:t>Hotkeys for Call 108 / Medical Help — visual flash + priority audio.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B0C0"/>
                </a:solidFill>
                <a:latin typeface="Calibri"/>
              </a:rPr>
              <a:t>Sign Language Communication Bridge  ·  Team Project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B0C0"/>
                </a:solidFill>
                <a:latin typeface="Calibr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1280160" cy="54864"/>
          </a:xfrm>
          <a:prstGeom prst="rect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B0C0"/>
                </a:solidFill>
                <a:latin typeface="Calibri"/>
              </a:rPr>
              <a:t>Practical, laptop-friendly, demo-ready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2743200" cy="2057400"/>
          </a:xfrm>
          <a:prstGeom prst="roundRect">
            <a:avLst>
              <a:gd name="adj" fmla="val 8000"/>
            </a:avLst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A6A0"/>
                </a:solidFill>
                <a:latin typeface="Calibri"/>
              </a:rPr>
              <a:t>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Python 3.10+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432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B0C0"/>
                </a:solidFill>
                <a:latin typeface="Calibri"/>
              </a:rPr>
              <a:t>Entire pipeline in one runtime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417320"/>
            <a:ext cx="2743200" cy="2057400"/>
          </a:xfrm>
          <a:prstGeom prst="roundRect">
            <a:avLst>
              <a:gd name="adj" fmla="val 8000"/>
            </a:avLst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6459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A6A0"/>
                </a:solidFill>
                <a:latin typeface="Calibri"/>
              </a:rPr>
              <a:t>VISION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0116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OpenCV + MediaPipe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7432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B0C0"/>
                </a:solidFill>
                <a:latin typeface="Calibri"/>
              </a:rPr>
              <a:t>Hands + upper-body landmarks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417320"/>
            <a:ext cx="2743200" cy="2057400"/>
          </a:xfrm>
          <a:prstGeom prst="roundRect">
            <a:avLst>
              <a:gd name="adj" fmla="val 8000"/>
            </a:avLst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6459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A6A0"/>
                </a:solidFill>
                <a:latin typeface="Calibri"/>
              </a:rPr>
              <a:t>SEQUENCE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0116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PyTorch LSTM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7432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B0C0"/>
                </a:solidFill>
                <a:latin typeface="Calibri"/>
              </a:rPr>
              <a:t>30-frame dynamic classifier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417320"/>
            <a:ext cx="2743200" cy="2057400"/>
          </a:xfrm>
          <a:prstGeom prst="roundRect">
            <a:avLst>
              <a:gd name="adj" fmla="val 8000"/>
            </a:avLst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16459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A6A0"/>
                </a:solidFill>
                <a:latin typeface="Calibri"/>
              </a:rPr>
              <a:t>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0116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Streamlit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27432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B0C0"/>
                </a:solidFill>
                <a:latin typeface="Calibri"/>
              </a:rPr>
              <a:t>Live video, chat, controls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703320"/>
            <a:ext cx="2743200" cy="2057400"/>
          </a:xfrm>
          <a:prstGeom prst="roundRect">
            <a:avLst>
              <a:gd name="adj" fmla="val 8000"/>
            </a:avLst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9319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A6A0"/>
                </a:solidFill>
                <a:latin typeface="Calibri"/>
              </a:rPr>
              <a:t>SIGN → VOICE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2976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pyttsx3 / gTTS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0292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B0C0"/>
                </a:solidFill>
                <a:latin typeface="Calibri"/>
              </a:rPr>
              <a:t>Offline-first speech output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83280" y="3703320"/>
            <a:ext cx="2743200" cy="2057400"/>
          </a:xfrm>
          <a:prstGeom prst="roundRect">
            <a:avLst>
              <a:gd name="adj" fmla="val 8000"/>
            </a:avLst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A6A0"/>
                </a:solidFill>
                <a:latin typeface="Calibri"/>
              </a:rPr>
              <a:t>VOICE → TEXT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42976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SpeechRecognition
+ Whisper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50292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B0C0"/>
                </a:solidFill>
                <a:latin typeface="Calibri"/>
              </a:rPr>
              <a:t>Mic transcription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3703320"/>
            <a:ext cx="2743200" cy="2057400"/>
          </a:xfrm>
          <a:prstGeom prst="roundRect">
            <a:avLst>
              <a:gd name="adj" fmla="val 8000"/>
            </a:avLst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39319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A6A0"/>
                </a:solidFill>
                <a:latin typeface="Calibri"/>
              </a:rPr>
              <a:t>GRAMMAR LLM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2976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Ollama / Groq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50292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B0C0"/>
                </a:solidFill>
                <a:latin typeface="Calibri"/>
              </a:rPr>
              <a:t>Gloss → natural sentence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0" y="3703320"/>
            <a:ext cx="2743200" cy="2057400"/>
          </a:xfrm>
          <a:prstGeom prst="roundRect">
            <a:avLst>
              <a:gd name="adj" fmla="val 8000"/>
            </a:avLst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0" y="39319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A6A0"/>
                </a:solidFill>
                <a:latin typeface="Calibri"/>
              </a:rPr>
              <a:t>DATA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42976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Custom .npy clips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50292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B0C0"/>
                </a:solidFill>
                <a:latin typeface="Calibri"/>
              </a:rPr>
              <a:t>Your signs, your accuracy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B0C0"/>
                </a:solidFill>
                <a:latin typeface="Calibri"/>
              </a:rPr>
              <a:t>Sign Language Communication Bridge  ·  Team Project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B0C0"/>
                </a:solidFill>
                <a:latin typeface="Calibr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1280160" cy="54864"/>
          </a:xfrm>
          <a:prstGeom prst="rect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B0C0"/>
                </a:solidFill>
                <a:latin typeface="Calibri"/>
              </a:rPr>
              <a:t>End-to-end data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828800"/>
            <a:ext cx="1417320" cy="914400"/>
          </a:xfrm>
          <a:prstGeom prst="roundRect">
            <a:avLst>
              <a:gd name="adj" fmla="val 15000"/>
            </a:avLst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B1C2C"/>
                </a:solidFill>
                <a:latin typeface="Calibri"/>
              </a:rPr>
              <a:t>Webcam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783080" y="2148840"/>
            <a:ext cx="502920" cy="274320"/>
          </a:xfrm>
          <a:prstGeom prst="rightArrow">
            <a:avLst/>
          </a:prstGeom>
          <a:solidFill>
            <a:srgbClr val="5ED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965960" y="1828800"/>
            <a:ext cx="1417320" cy="914400"/>
          </a:xfrm>
          <a:prstGeom prst="roundRect">
            <a:avLst>
              <a:gd name="adj" fmla="val 15000"/>
            </a:avLst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Landmarks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383280" y="2148840"/>
            <a:ext cx="502920" cy="274320"/>
          </a:xfrm>
          <a:prstGeom prst="rightArrow">
            <a:avLst/>
          </a:prstGeom>
          <a:solidFill>
            <a:srgbClr val="5ED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11880" y="1828800"/>
            <a:ext cx="1417320" cy="914400"/>
          </a:xfrm>
          <a:prstGeom prst="roundRect">
            <a:avLst>
              <a:gd name="adj" fmla="val 15000"/>
            </a:avLst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30-Frame
Buffer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029200" y="2148840"/>
            <a:ext cx="502920" cy="274320"/>
          </a:xfrm>
          <a:prstGeom prst="rightArrow">
            <a:avLst/>
          </a:prstGeom>
          <a:solidFill>
            <a:srgbClr val="5ED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57800" y="1828800"/>
            <a:ext cx="1417320" cy="914400"/>
          </a:xfrm>
          <a:prstGeom prst="roundRect">
            <a:avLst>
              <a:gd name="adj" fmla="val 15000"/>
            </a:avLst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LSTM +
Debounce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675120" y="2148840"/>
            <a:ext cx="502920" cy="274320"/>
          </a:xfrm>
          <a:prstGeom prst="rightArrow">
            <a:avLst/>
          </a:prstGeom>
          <a:solidFill>
            <a:srgbClr val="5ED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903720" y="1828800"/>
            <a:ext cx="1417320" cy="914400"/>
          </a:xfrm>
          <a:prstGeom prst="roundRect">
            <a:avLst>
              <a:gd name="adj" fmla="val 15000"/>
            </a:avLst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Sentence
Buffer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321040" y="2148840"/>
            <a:ext cx="502920" cy="274320"/>
          </a:xfrm>
          <a:prstGeom prst="rightArrow">
            <a:avLst/>
          </a:prstGeom>
          <a:solidFill>
            <a:srgbClr val="5ED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549640" y="1828800"/>
            <a:ext cx="1417320" cy="914400"/>
          </a:xfrm>
          <a:prstGeom prst="roundRect">
            <a:avLst>
              <a:gd name="adj" fmla="val 15000"/>
            </a:avLst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LLM
Polish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966960" y="2148840"/>
            <a:ext cx="502920" cy="274320"/>
          </a:xfrm>
          <a:prstGeom prst="rightArrow">
            <a:avLst/>
          </a:prstGeom>
          <a:solidFill>
            <a:srgbClr val="5ED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195560" y="1828800"/>
            <a:ext cx="1417320" cy="914400"/>
          </a:xfrm>
          <a:prstGeom prst="roundRect">
            <a:avLst>
              <a:gd name="adj" fmla="val 15000"/>
            </a:avLst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B1C2C"/>
                </a:solidFill>
                <a:latin typeface="Calibri"/>
              </a:rPr>
              <a:t>TTS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108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C45C"/>
                </a:solidFill>
                <a:latin typeface="Calibri"/>
              </a:rPr>
              <a:t>Reverse path (Speech → Sign)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566160"/>
            <a:ext cx="1737360" cy="685800"/>
          </a:xfrm>
          <a:prstGeom prst="roundRect">
            <a:avLst/>
          </a:prstGeom>
          <a:solidFill>
            <a:srgbClr val="F0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B1C2C"/>
                </a:solidFill>
                <a:latin typeface="Calibri"/>
              </a:rPr>
              <a:t>Mic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103120" y="3767328"/>
            <a:ext cx="457200" cy="274320"/>
          </a:xfrm>
          <a:prstGeom prst="rightArrow">
            <a:avLst/>
          </a:prstGeom>
          <a:solidFill>
            <a:srgbClr val="F0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286000" y="3566160"/>
            <a:ext cx="1737360" cy="685800"/>
          </a:xfrm>
          <a:prstGeom prst="roundRect">
            <a:avLst/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8EEF2"/>
                </a:solidFill>
                <a:latin typeface="Calibri"/>
              </a:rPr>
              <a:t>STT / Whisper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023360" y="3767328"/>
            <a:ext cx="457200" cy="274320"/>
          </a:xfrm>
          <a:prstGeom prst="rightArrow">
            <a:avLst/>
          </a:prstGeom>
          <a:solidFill>
            <a:srgbClr val="F0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72000" y="3566160"/>
            <a:ext cx="1737360" cy="685800"/>
          </a:xfrm>
          <a:prstGeom prst="roundRect">
            <a:avLst/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8EEF2"/>
                </a:solidFill>
                <a:latin typeface="Calibri"/>
              </a:rPr>
              <a:t>Keyword Match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6309360" y="3767328"/>
            <a:ext cx="457200" cy="274320"/>
          </a:xfrm>
          <a:prstGeom prst="rightArrow">
            <a:avLst/>
          </a:prstGeom>
          <a:solidFill>
            <a:srgbClr val="F0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040880" y="3566160"/>
            <a:ext cx="1737360" cy="685800"/>
          </a:xfrm>
          <a:prstGeom prst="roundRect">
            <a:avLst/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8EEF2"/>
                </a:solidFill>
                <a:latin typeface="Calibri"/>
              </a:rPr>
              <a:t>Sign GIF Viewer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778240" y="3767328"/>
            <a:ext cx="457200" cy="274320"/>
          </a:xfrm>
          <a:prstGeom prst="rightArrow">
            <a:avLst/>
          </a:prstGeom>
          <a:solidFill>
            <a:srgbClr val="F0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509760" y="3566160"/>
            <a:ext cx="1737360" cy="685800"/>
          </a:xfrm>
          <a:prstGeom prst="roundRect">
            <a:avLst/>
          </a:prstGeom>
          <a:solidFill>
            <a:srgbClr val="F0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B1C2C"/>
                </a:solidFill>
                <a:latin typeface="Calibri"/>
              </a:rPr>
              <a:t>Dialogue UI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572000"/>
            <a:ext cx="11155680" cy="1371600"/>
          </a:xfrm>
          <a:prstGeom prst="roundRect">
            <a:avLst>
              <a:gd name="adj" fmla="val 8000"/>
            </a:avLst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754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A6A0"/>
                </a:solidFill>
                <a:latin typeface="Calibri"/>
              </a:rPr>
              <a:t>Feature design (per frame)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1206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EF2"/>
                </a:solidFill>
                <a:latin typeface="Calibri"/>
              </a:rPr>
              <a:t>21 hand landmarks × 2 hands × (x,y,z) + selected pose joints ≈ 147 features  ·  Wrist-relative + scale-normalized for distance invariance  ·  Predict only if confidence &gt; 0.85 for ≥ 10 frames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B0C0"/>
                </a:solidFill>
                <a:latin typeface="Calibri"/>
              </a:rPr>
              <a:t>Sign Language Communication Bridge  ·  Team Project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B0C0"/>
                </a:solidFill>
                <a:latin typeface="Calibr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Core Modules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1280160" cy="54864"/>
          </a:xfrm>
          <a:prstGeom prst="rect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B0C0"/>
                </a:solidFill>
                <a:latin typeface="Calibri"/>
              </a:rPr>
              <a:t>Clean ownership boundaries for a 3-person team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2743200" cy="4114800"/>
          </a:xfrm>
          <a:prstGeom prst="roundRect">
            <a:avLst>
              <a:gd name="adj" fmla="val 8000"/>
            </a:avLst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63040" y="1691640"/>
            <a:ext cx="777240" cy="777240"/>
          </a:xfrm>
          <a:prstGeom prst="ellipse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B1C2C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974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Landmark Extraction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3756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>
                <a:solidFill>
                  <a:srgbClr val="9AB0C0"/>
                </a:solidFill>
                <a:latin typeface="Calibri"/>
              </a:rPr>
              <a:t>MediaPipe Holistic</a:t>
            </a:r>
          </a:p>
          <a:p>
            <a:pPr algn="ctr">
              <a:spcAft>
                <a:spcPts val="600"/>
              </a:spcAft>
            </a:pPr>
            <a:r>
              <a:rPr sz="1200">
                <a:solidFill>
                  <a:srgbClr val="9AB0C0"/>
                </a:solidFill>
                <a:latin typeface="Calibri"/>
              </a:rPr>
              <a:t>Normalize to wrist / pose</a:t>
            </a:r>
          </a:p>
          <a:p>
            <a:pPr algn="ctr">
              <a:spcAft>
                <a:spcPts val="600"/>
              </a:spcAft>
            </a:pPr>
            <a:r>
              <a:rPr sz="1200">
                <a:solidFill>
                  <a:srgbClr val="9AB0C0"/>
                </a:solidFill>
                <a:latin typeface="Calibri"/>
              </a:rPr>
              <a:t>Distance-invariant features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417320"/>
            <a:ext cx="2743200" cy="4114800"/>
          </a:xfrm>
          <a:prstGeom prst="roundRect">
            <a:avLst>
              <a:gd name="adj" fmla="val 8000"/>
            </a:avLst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43400" y="1691640"/>
            <a:ext cx="777240" cy="777240"/>
          </a:xfrm>
          <a:prstGeom prst="ellipse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B1C2C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6974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Sequence Prediction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33756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>
                <a:solidFill>
                  <a:srgbClr val="9AB0C0"/>
                </a:solidFill>
                <a:latin typeface="Calibri"/>
              </a:rPr>
              <a:t>Circular 30-frame buffer</a:t>
            </a:r>
          </a:p>
          <a:p>
            <a:pPr algn="ctr">
              <a:spcAft>
                <a:spcPts val="600"/>
              </a:spcAft>
            </a:pPr>
            <a:r>
              <a:rPr sz="1200">
                <a:solidFill>
                  <a:srgbClr val="9AB0C0"/>
                </a:solidFill>
                <a:latin typeface="Calibri"/>
              </a:rPr>
              <a:t>LSTM classifier</a:t>
            </a:r>
          </a:p>
          <a:p>
            <a:pPr algn="ctr">
              <a:spcAft>
                <a:spcPts val="600"/>
              </a:spcAft>
            </a:pPr>
            <a:r>
              <a:rPr sz="1200">
                <a:solidFill>
                  <a:srgbClr val="9AB0C0"/>
                </a:solidFill>
                <a:latin typeface="Calibri"/>
              </a:rPr>
              <a:t>Debounce + cooldown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417320"/>
            <a:ext cx="2743200" cy="4114800"/>
          </a:xfrm>
          <a:prstGeom prst="roundRect">
            <a:avLst>
              <a:gd name="adj" fmla="val 8000"/>
            </a:avLst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23760" y="1691640"/>
            <a:ext cx="777240" cy="777240"/>
          </a:xfrm>
          <a:prstGeom prst="ellipse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B1C2C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6974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Sentence + NLP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33756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>
                <a:solidFill>
                  <a:srgbClr val="9AB0C0"/>
                </a:solidFill>
                <a:latin typeface="Calibri"/>
              </a:rPr>
              <a:t>Token accumulation</a:t>
            </a:r>
          </a:p>
          <a:p>
            <a:pPr algn="ctr">
              <a:spcAft>
                <a:spcPts val="600"/>
              </a:spcAft>
            </a:pPr>
            <a:r>
              <a:rPr sz="1200">
                <a:solidFill>
                  <a:srgbClr val="9AB0C0"/>
                </a:solidFill>
                <a:latin typeface="Calibri"/>
              </a:rPr>
              <a:t>Idle / EOS flush</a:t>
            </a:r>
          </a:p>
          <a:p>
            <a:pPr algn="ctr">
              <a:spcAft>
                <a:spcPts val="600"/>
              </a:spcAft>
            </a:pPr>
            <a:r>
              <a:rPr sz="1200">
                <a:solidFill>
                  <a:srgbClr val="9AB0C0"/>
                </a:solidFill>
                <a:latin typeface="Calibri"/>
              </a:rPr>
              <a:t>LLM grammar engine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417320"/>
            <a:ext cx="2743200" cy="4114800"/>
          </a:xfrm>
          <a:prstGeom prst="roundRect">
            <a:avLst>
              <a:gd name="adj" fmla="val 8000"/>
            </a:avLst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104120" y="1691640"/>
            <a:ext cx="777240" cy="777240"/>
          </a:xfrm>
          <a:prstGeom prst="ellipse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B1C2C"/>
                </a:solidFill>
                <a:latin typeface="Calibri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6974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Reverse Translation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333756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>
                <a:solidFill>
                  <a:srgbClr val="9AB0C0"/>
                </a:solidFill>
                <a:latin typeface="Calibri"/>
              </a:rPr>
              <a:t>Mic → transcript</a:t>
            </a:r>
          </a:p>
          <a:p>
            <a:pPr algn="ctr">
              <a:spcAft>
                <a:spcPts val="600"/>
              </a:spcAft>
            </a:pPr>
            <a:r>
              <a:rPr sz="1200">
                <a:solidFill>
                  <a:srgbClr val="9AB0C0"/>
                </a:solidFill>
                <a:latin typeface="Calibri"/>
              </a:rPr>
              <a:t>Keyword → GIF DB</a:t>
            </a:r>
          </a:p>
          <a:p>
            <a:pPr algn="ctr">
              <a:spcAft>
                <a:spcPts val="600"/>
              </a:spcAft>
            </a:pPr>
            <a:r>
              <a:rPr sz="1200">
                <a:solidFill>
                  <a:srgbClr val="9AB0C0"/>
                </a:solidFill>
                <a:latin typeface="Calibri"/>
              </a:rPr>
              <a:t>Split-screen viewer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B0C0"/>
                </a:solidFill>
                <a:latin typeface="Calibri"/>
              </a:rPr>
              <a:t>Sign Language Communication Bridge  ·  Team Project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B0C0"/>
                </a:solidFill>
                <a:latin typeface="Calibr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Why This Approach Wins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1280160" cy="54864"/>
          </a:xfrm>
          <a:prstGeom prst="rect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B0C0"/>
                </a:solidFill>
                <a:latin typeface="Calibri"/>
              </a:rPr>
              <a:t>Research-backed comparison for best 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2194560" cy="502920"/>
          </a:xfrm>
          <a:prstGeom prst="rect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B1C2C"/>
                </a:solidFill>
                <a:latin typeface="Calibri"/>
              </a:rPr>
              <a:t>Approach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417320"/>
            <a:ext cx="2194560" cy="502920"/>
          </a:xfrm>
          <a:prstGeom prst="rect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B1C2C"/>
                </a:solidFill>
                <a:latin typeface="Calibri"/>
              </a:rPr>
              <a:t>Dynamic words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4920" y="1417320"/>
            <a:ext cx="2194560" cy="502920"/>
          </a:xfrm>
          <a:prstGeom prst="rect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B1C2C"/>
                </a:solidFill>
                <a:latin typeface="Calibri"/>
              </a:rPr>
              <a:t>Two-way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60920" y="1417320"/>
            <a:ext cx="2194560" cy="502920"/>
          </a:xfrm>
          <a:prstGeom prst="rect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B1C2C"/>
                </a:solidFill>
                <a:latin typeface="Calibri"/>
              </a:rPr>
              <a:t>Grammar LLM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417320"/>
            <a:ext cx="2194560" cy="502920"/>
          </a:xfrm>
          <a:prstGeom prst="rect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B1C2C"/>
                </a:solidFill>
                <a:latin typeface="Calibri"/>
              </a:rPr>
              <a:t>Laptop demo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965960"/>
            <a:ext cx="2194560" cy="594360"/>
          </a:xfrm>
          <a:prstGeom prst="rect">
            <a:avLst/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8EEF2"/>
                </a:solidFill>
                <a:latin typeface="Calibri"/>
              </a:rPr>
              <a:t>Static CNN A–Z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88920" y="1965960"/>
            <a:ext cx="2194560" cy="594360"/>
          </a:xfrm>
          <a:prstGeom prst="rect">
            <a:avLst/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E8EEF2"/>
                </a:solidFill>
                <a:latin typeface="Calibri"/>
              </a:rPr>
              <a:t>No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74920" y="1965960"/>
            <a:ext cx="2194560" cy="594360"/>
          </a:xfrm>
          <a:prstGeom prst="rect">
            <a:avLst/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E8EEF2"/>
                </a:solidFill>
                <a:latin typeface="Calibri"/>
              </a:rPr>
              <a:t>Rare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60920" y="1965960"/>
            <a:ext cx="2194560" cy="594360"/>
          </a:xfrm>
          <a:prstGeom prst="rect">
            <a:avLst/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E8EEF2"/>
                </a:solidFill>
                <a:latin typeface="Calibri"/>
              </a:rPr>
              <a:t>No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46920" y="1965960"/>
            <a:ext cx="2194560" cy="594360"/>
          </a:xfrm>
          <a:prstGeom prst="rect">
            <a:avLst/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E8EEF2"/>
                </a:solidFill>
                <a:latin typeface="Calibri"/>
              </a:rPr>
              <a:t>Easy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606039"/>
            <a:ext cx="2194560" cy="594360"/>
          </a:xfrm>
          <a:prstGeom prst="rect">
            <a:avLst/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8EEF2"/>
                </a:solidFill>
                <a:latin typeface="Calibri"/>
              </a:rPr>
              <a:t>Keypoints + SVM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88920" y="2606039"/>
            <a:ext cx="2194560" cy="594360"/>
          </a:xfrm>
          <a:prstGeom prst="rect">
            <a:avLst/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E8EEF2"/>
                </a:solidFill>
                <a:latin typeface="Calibri"/>
              </a:rPr>
              <a:t>Weak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74920" y="2606039"/>
            <a:ext cx="2194560" cy="594360"/>
          </a:xfrm>
          <a:prstGeom prst="rect">
            <a:avLst/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E8EEF2"/>
                </a:solidFill>
                <a:latin typeface="Calibri"/>
              </a:rPr>
              <a:t>Rare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60920" y="2606039"/>
            <a:ext cx="2194560" cy="594360"/>
          </a:xfrm>
          <a:prstGeom prst="rect">
            <a:avLst/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E8EEF2"/>
                </a:solidFill>
                <a:latin typeface="Calibri"/>
              </a:rPr>
              <a:t>No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46920" y="2606039"/>
            <a:ext cx="2194560" cy="594360"/>
          </a:xfrm>
          <a:prstGeom prst="rect">
            <a:avLst/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E8EEF2"/>
                </a:solidFill>
                <a:latin typeface="Calibri"/>
              </a:rPr>
              <a:t>Easy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246120"/>
            <a:ext cx="2194560" cy="594360"/>
          </a:xfrm>
          <a:prstGeom prst="rect">
            <a:avLst/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8EEF2"/>
                </a:solidFill>
                <a:latin typeface="Calibri"/>
              </a:rPr>
              <a:t>Raw video 3D CNN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88920" y="3246120"/>
            <a:ext cx="2194560" cy="594360"/>
          </a:xfrm>
          <a:prstGeom prst="rect">
            <a:avLst/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E8EEF2"/>
                </a:solidFill>
                <a:latin typeface="Calibri"/>
              </a:rPr>
              <a:t>Yes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74920" y="3246120"/>
            <a:ext cx="2194560" cy="594360"/>
          </a:xfrm>
          <a:prstGeom prst="rect">
            <a:avLst/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E8EEF2"/>
                </a:solidFill>
                <a:latin typeface="Calibri"/>
              </a:rPr>
              <a:t>Possible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60920" y="3246120"/>
            <a:ext cx="2194560" cy="594360"/>
          </a:xfrm>
          <a:prstGeom prst="rect">
            <a:avLst/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E8EEF2"/>
                </a:solidFill>
                <a:latin typeface="Calibri"/>
              </a:rPr>
              <a:t>Rare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46920" y="3246120"/>
            <a:ext cx="2194560" cy="594360"/>
          </a:xfrm>
          <a:prstGeom prst="rect">
            <a:avLst/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E8EEF2"/>
                </a:solidFill>
                <a:latin typeface="Calibri"/>
              </a:rPr>
              <a:t>Heavy GPU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886200"/>
            <a:ext cx="2194560" cy="594360"/>
          </a:xfrm>
          <a:prstGeom prst="rect">
            <a:avLst/>
          </a:prstGeom>
          <a:solidFill>
            <a:srgbClr val="1A4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5ED1CB"/>
                </a:solidFill>
                <a:latin typeface="Calibri"/>
              </a:rPr>
              <a:t>Our: MediaPipe + LSTM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88920" y="3886200"/>
            <a:ext cx="2194560" cy="594360"/>
          </a:xfrm>
          <a:prstGeom prst="rect">
            <a:avLst/>
          </a:prstGeom>
          <a:solidFill>
            <a:srgbClr val="1A4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5ED1CB"/>
                </a:solidFill>
                <a:latin typeface="Calibri"/>
              </a:rPr>
              <a:t>Yes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74920" y="3886200"/>
            <a:ext cx="2194560" cy="594360"/>
          </a:xfrm>
          <a:prstGeom prst="rect">
            <a:avLst/>
          </a:prstGeom>
          <a:solidFill>
            <a:srgbClr val="1A4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5ED1CB"/>
                </a:solidFill>
                <a:latin typeface="Calibri"/>
              </a:rPr>
              <a:t>Yes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60920" y="3886200"/>
            <a:ext cx="2194560" cy="594360"/>
          </a:xfrm>
          <a:prstGeom prst="rect">
            <a:avLst/>
          </a:prstGeom>
          <a:solidFill>
            <a:srgbClr val="1A4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5ED1CB"/>
                </a:solidFill>
                <a:latin typeface="Calibri"/>
              </a:rPr>
              <a:t>Yes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46920" y="3886200"/>
            <a:ext cx="2194560" cy="594360"/>
          </a:xfrm>
          <a:prstGeom prst="rect">
            <a:avLst/>
          </a:prstGeom>
          <a:solidFill>
            <a:srgbClr val="1A4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5ED1CB"/>
                </a:solidFill>
                <a:latin typeface="Calibri"/>
              </a:rPr>
              <a:t>Best fit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75488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B0C0"/>
                </a:solidFill>
                <a:latin typeface="Calibri"/>
              </a:rPr>
              <a:t>Decision: Keypoints + LSTM gives strong accuracy without training huge video models. Add LLM polish and speech→sign GIFs for product-level differentiation. Keep a tiny vocabulary (8–12 signs) first, then expand.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B0C0"/>
                </a:solidFill>
                <a:latin typeface="Calibri"/>
              </a:rPr>
              <a:t>Sign Language Communication Bridge  ·  Team Project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B0C0"/>
                </a:solidFill>
                <a:latin typeface="Calibr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We Research Online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1280160" cy="54864"/>
          </a:xfrm>
          <a:prstGeom prst="rect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B0C0"/>
                </a:solidFill>
                <a:latin typeface="Calibri"/>
              </a:rPr>
              <a:t>Learn these topics to outperform copy-paste demos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3657600" cy="2057400"/>
          </a:xfrm>
          <a:prstGeom prst="roundRect">
            <a:avLst>
              <a:gd name="adj" fmla="val 8000"/>
            </a:avLst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A6A0"/>
                </a:solidFill>
                <a:latin typeface="Calibri"/>
              </a:rPr>
              <a:t>Computer 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E8EEF2"/>
                </a:solidFill>
                <a:latin typeface="Calibri"/>
              </a:rPr>
              <a:t>•  MediaPipe Hands vs Holistic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E8EEF2"/>
                </a:solidFill>
                <a:latin typeface="Calibri"/>
              </a:rPr>
              <a:t>•  Landmark normalization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E8EEF2"/>
                </a:solidFill>
                <a:latin typeface="Calibri"/>
              </a:rPr>
              <a:t>•  Real-time FPS on CPU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17320"/>
            <a:ext cx="3657600" cy="2057400"/>
          </a:xfrm>
          <a:prstGeom prst="roundRect">
            <a:avLst>
              <a:gd name="adj" fmla="val 8000"/>
            </a:avLst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645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A6A0"/>
                </a:solidFill>
                <a:latin typeface="Calibri"/>
              </a:rPr>
              <a:t>Sequence 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1488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E8EEF2"/>
                </a:solidFill>
                <a:latin typeface="Calibri"/>
              </a:rPr>
              <a:t>•  LSTM / GRU / 1D-CNN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E8EEF2"/>
                </a:solidFill>
                <a:latin typeface="Calibri"/>
              </a:rPr>
              <a:t>•  Sliding windows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E8EEF2"/>
                </a:solidFill>
                <a:latin typeface="Calibri"/>
              </a:rPr>
              <a:t>•  Debounce &amp; smoothing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1417320"/>
            <a:ext cx="3657600" cy="2057400"/>
          </a:xfrm>
          <a:prstGeom prst="roundRect">
            <a:avLst>
              <a:gd name="adj" fmla="val 8000"/>
            </a:avLst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645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A6A0"/>
                </a:solidFill>
                <a:latin typeface="Calibri"/>
              </a:rPr>
              <a:t>Sign Linguistics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1488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E8EEF2"/>
                </a:solidFill>
                <a:latin typeface="Calibri"/>
              </a:rPr>
              <a:t>•  ASL vs ISL choice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E8EEF2"/>
                </a:solidFill>
                <a:latin typeface="Calibri"/>
              </a:rPr>
              <a:t>•  Gloss vs spoken English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E8EEF2"/>
                </a:solidFill>
                <a:latin typeface="Calibri"/>
              </a:rPr>
              <a:t>•  Continuous signing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703320"/>
            <a:ext cx="3657600" cy="2057400"/>
          </a:xfrm>
          <a:prstGeom prst="roundRect">
            <a:avLst>
              <a:gd name="adj" fmla="val 8000"/>
            </a:avLst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931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A6A0"/>
                </a:solidFill>
                <a:latin typeface="Calibri"/>
              </a:rPr>
              <a:t>Speech &amp; LLM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4348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E8EEF2"/>
                </a:solidFill>
                <a:latin typeface="Calibri"/>
              </a:rPr>
              <a:t>•  Whisper sizes vs latency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E8EEF2"/>
                </a:solidFill>
                <a:latin typeface="Calibri"/>
              </a:rPr>
              <a:t>•  Ollama vs Groq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E8EEF2"/>
                </a:solidFill>
                <a:latin typeface="Calibri"/>
              </a:rPr>
              <a:t>•  Safe prompt design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3703320"/>
            <a:ext cx="3657600" cy="2057400"/>
          </a:xfrm>
          <a:prstGeom prst="roundRect">
            <a:avLst>
              <a:gd name="adj" fmla="val 8000"/>
            </a:avLst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3931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A6A0"/>
                </a:solidFill>
                <a:latin typeface="Calibri"/>
              </a:rPr>
              <a:t>Datasets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4348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E8EEF2"/>
                </a:solidFill>
                <a:latin typeface="Calibri"/>
              </a:rPr>
              <a:t>•  WLASL · MS-ASL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E8EEF2"/>
                </a:solidFill>
                <a:latin typeface="Calibri"/>
              </a:rPr>
              <a:t>•  INCLUDE (ISL)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E8EEF2"/>
                </a:solidFill>
                <a:latin typeface="Calibri"/>
              </a:rPr>
              <a:t>•  Custom collection protocol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80" y="3703320"/>
            <a:ext cx="3657600" cy="2057400"/>
          </a:xfrm>
          <a:prstGeom prst="roundRect">
            <a:avLst>
              <a:gd name="adj" fmla="val 8000"/>
            </a:avLst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3931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A6A0"/>
                </a:solidFill>
                <a:latin typeface="Calibri"/>
              </a:rPr>
              <a:t>HCI / Ethics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4348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E8EEF2"/>
                </a:solidFill>
                <a:latin typeface="Calibri"/>
              </a:rPr>
              <a:t>•  Emergency UX patterns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E8EEF2"/>
                </a:solidFill>
                <a:latin typeface="Calibri"/>
              </a:rPr>
              <a:t>•  Camera consent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E8EEF2"/>
                </a:solidFill>
                <a:latin typeface="Calibri"/>
              </a:rPr>
              <a:t>•  Latency budgets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B0C0"/>
                </a:solidFill>
                <a:latin typeface="Calibri"/>
              </a:rPr>
              <a:t>Sign Language Communication Bridge  ·  Team Project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B0C0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Team Division — 3 Members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1280160" cy="54864"/>
          </a:xfrm>
          <a:prstGeom prst="rect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B0C0"/>
                </a:solidFill>
                <a:latin typeface="Calibri"/>
              </a:rPr>
              <a:t>Parallel tracks, shared integration contracts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3657600" cy="4114800"/>
          </a:xfrm>
          <a:prstGeom prst="roundRect">
            <a:avLst>
              <a:gd name="adj" fmla="val 8000"/>
            </a:avLst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3657600" cy="109728"/>
          </a:xfrm>
          <a:prstGeom prst="rect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A6A0"/>
                </a:solidFill>
                <a:latin typeface="Calibri"/>
              </a:rPr>
              <a:t>Member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488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Vision &amp;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34640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E8EEF2"/>
                </a:solidFill>
                <a:latin typeface="Calibri"/>
              </a:rPr>
              <a:t>▸  Landmarks · normalization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E8EEF2"/>
                </a:solidFill>
                <a:latin typeface="Calibri"/>
              </a:rPr>
              <a:t>▸  data_collection.py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E8EEF2"/>
                </a:solidFill>
                <a:latin typeface="Calibri"/>
              </a:rPr>
              <a:t>▸  Dataset quality &amp; lighting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17320"/>
            <a:ext cx="3657600" cy="4114800"/>
          </a:xfrm>
          <a:prstGeom prst="roundRect">
            <a:avLst>
              <a:gd name="adj" fmla="val 8000"/>
            </a:avLst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417320"/>
            <a:ext cx="3657600" cy="109728"/>
          </a:xfrm>
          <a:prstGeom prst="rect">
            <a:avLst/>
          </a:prstGeom>
          <a:solidFill>
            <a:srgbClr val="F0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7373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C45C"/>
                </a:solidFill>
                <a:latin typeface="Calibri"/>
              </a:rPr>
              <a:t>Member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1488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ML &amp; Training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834640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E8EEF2"/>
                </a:solidFill>
                <a:latin typeface="Calibri"/>
              </a:rPr>
              <a:t>▸  Buffer · LSTM model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E8EEF2"/>
                </a:solidFill>
                <a:latin typeface="Calibri"/>
              </a:rPr>
              <a:t>▸  train_model.py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E8EEF2"/>
                </a:solidFill>
                <a:latin typeface="Calibri"/>
              </a:rPr>
              <a:t>▸  Metrics &amp; checkpoint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0" y="1417320"/>
            <a:ext cx="3657600" cy="4114800"/>
          </a:xfrm>
          <a:prstGeom prst="roundRect">
            <a:avLst>
              <a:gd name="adj" fmla="val 8000"/>
            </a:avLst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80" y="1417320"/>
            <a:ext cx="3657600" cy="109728"/>
          </a:xfrm>
          <a:prstGeom prst="rect">
            <a:avLst/>
          </a:prstGeom>
          <a:solidFill>
            <a:srgbClr val="E8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17373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5D4C"/>
                </a:solidFill>
                <a:latin typeface="Calibri"/>
              </a:rPr>
              <a:t>Member 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1488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App · Audio · NLP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834640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E8EEF2"/>
                </a:solidFill>
                <a:latin typeface="Calibri"/>
              </a:rPr>
              <a:t>▸  Streamlit UI · TTS/STT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E8EEF2"/>
                </a:solidFill>
                <a:latin typeface="Calibri"/>
              </a:rPr>
              <a:t>▸  LLM polish · GIFs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E8EEF2"/>
                </a:solidFill>
                <a:latin typeface="Calibri"/>
              </a:rPr>
              <a:t>▸  Emergency mode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B0C0"/>
                </a:solidFill>
                <a:latin typeface="Calibri"/>
              </a:rPr>
              <a:t>Sign Language Communication Bridge  ·  Team Project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B0C0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6-Week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1280160" cy="54864"/>
          </a:xfrm>
          <a:prstGeom prst="rect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B0C0"/>
                </a:solidFill>
                <a:latin typeface="Calibri"/>
              </a:rPr>
              <a:t>From scaffold to demo 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2331720"/>
            <a:ext cx="914400" cy="54864"/>
          </a:xfrm>
          <a:prstGeom prst="rect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2057400"/>
            <a:ext cx="640080" cy="640080"/>
          </a:xfrm>
          <a:prstGeom prst="ellipse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B1C2C"/>
                </a:solidFill>
                <a:latin typeface="Calibri"/>
              </a:rPr>
              <a:t>W1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17520"/>
            <a:ext cx="1783080" cy="2011680"/>
          </a:xfrm>
          <a:prstGeom prst="roundRect">
            <a:avLst>
              <a:gd name="adj" fmla="val 8000"/>
            </a:avLst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3246120"/>
            <a:ext cx="1554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8EEF2"/>
                </a:solidFill>
                <a:latin typeface="Calibri"/>
              </a:rPr>
              <a:t>Research &amp;
freeze vocab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40" y="2331720"/>
            <a:ext cx="914400" cy="54864"/>
          </a:xfrm>
          <a:prstGeom prst="rect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788920" y="2057400"/>
            <a:ext cx="640080" cy="640080"/>
          </a:xfrm>
          <a:prstGeom prst="ellipse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B1C2C"/>
                </a:solidFill>
                <a:latin typeface="Calibri"/>
              </a:rPr>
              <a:t>W2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7440" y="3017520"/>
            <a:ext cx="1783080" cy="2011680"/>
          </a:xfrm>
          <a:prstGeom prst="roundRect">
            <a:avLst>
              <a:gd name="adj" fmla="val 8000"/>
            </a:avLst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87168" y="3246120"/>
            <a:ext cx="1554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8EEF2"/>
                </a:solidFill>
                <a:latin typeface="Calibri"/>
              </a:rPr>
              <a:t>Collect data
+ model scaffold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0" y="2331720"/>
            <a:ext cx="914400" cy="54864"/>
          </a:xfrm>
          <a:prstGeom prst="rect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09160" y="2057400"/>
            <a:ext cx="640080" cy="640080"/>
          </a:xfrm>
          <a:prstGeom prst="ellipse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B1C2C"/>
                </a:solidFill>
                <a:latin typeface="Calibri"/>
              </a:rPr>
              <a:t>W3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017520"/>
            <a:ext cx="1783080" cy="2011680"/>
          </a:xfrm>
          <a:prstGeom prst="roundRect">
            <a:avLst>
              <a:gd name="adj" fmla="val 8000"/>
            </a:avLst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07408" y="3246120"/>
            <a:ext cx="1554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8EEF2"/>
                </a:solidFill>
                <a:latin typeface="Calibri"/>
              </a:rPr>
              <a:t>Train LSTM
+ live tokens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0" y="2331720"/>
            <a:ext cx="914400" cy="54864"/>
          </a:xfrm>
          <a:prstGeom prst="rect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629400" y="2057400"/>
            <a:ext cx="640080" cy="640080"/>
          </a:xfrm>
          <a:prstGeom prst="ellipse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B1C2C"/>
                </a:solidFill>
                <a:latin typeface="Calibri"/>
              </a:rPr>
              <a:t>W4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017520"/>
            <a:ext cx="1783080" cy="2011680"/>
          </a:xfrm>
          <a:prstGeom prst="roundRect">
            <a:avLst>
              <a:gd name="adj" fmla="val 8000"/>
            </a:avLst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3246120"/>
            <a:ext cx="1554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8EEF2"/>
                </a:solidFill>
                <a:latin typeface="Calibri"/>
              </a:rPr>
              <a:t>LLM polish
+ harden accuracy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09760" y="2331720"/>
            <a:ext cx="914400" cy="54864"/>
          </a:xfrm>
          <a:prstGeom prst="rect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49640" y="2057400"/>
            <a:ext cx="640080" cy="640080"/>
          </a:xfrm>
          <a:prstGeom prst="ellipse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B1C2C"/>
                </a:solidFill>
                <a:latin typeface="Calibri"/>
              </a:rPr>
              <a:t>W5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017520"/>
            <a:ext cx="1783080" cy="2011680"/>
          </a:xfrm>
          <a:prstGeom prst="roundRect">
            <a:avLst>
              <a:gd name="adj" fmla="val 8000"/>
            </a:avLst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47888" y="3246120"/>
            <a:ext cx="1554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8EEF2"/>
                </a:solidFill>
                <a:latin typeface="Calibri"/>
              </a:rPr>
              <a:t>Speech→Sign
+ UI polish</a:t>
            </a:r>
          </a:p>
        </p:txBody>
      </p:sp>
      <p:sp>
        <p:nvSpPr>
          <p:cNvPr id="27" name="Oval 26"/>
          <p:cNvSpPr/>
          <p:nvPr/>
        </p:nvSpPr>
        <p:spPr>
          <a:xfrm>
            <a:off x="10469880" y="2057400"/>
            <a:ext cx="640080" cy="640080"/>
          </a:xfrm>
          <a:prstGeom prst="ellipse">
            <a:avLst/>
          </a:prstGeom>
          <a:solidFill>
            <a:srgbClr val="F0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B1C2C"/>
                </a:solidFill>
                <a:latin typeface="Calibri"/>
              </a:rPr>
              <a:t>W6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58400" y="3017520"/>
            <a:ext cx="1783080" cy="2011680"/>
          </a:xfrm>
          <a:prstGeom prst="roundRect">
            <a:avLst>
              <a:gd name="adj" fmla="val 8000"/>
            </a:avLst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68128" y="3246120"/>
            <a:ext cx="1554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8EEF2"/>
                </a:solidFill>
                <a:latin typeface="Calibri"/>
              </a:rPr>
              <a:t>Demo script
+ final 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3035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B0C0"/>
                </a:solidFill>
                <a:latin typeface="Calibri"/>
              </a:rPr>
              <a:t>Integration locks: feature dim = 147 · window = 30 frames · labels.json shared · GIF names = vocab names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B0C0"/>
                </a:solidFill>
                <a:latin typeface="Calibri"/>
              </a:rPr>
              <a:t>Sign Language Communication Bridge  ·  Team Project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B0C0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Demo Script &amp; Success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1280160" cy="54864"/>
          </a:xfrm>
          <a:prstGeom prst="rect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B0C0"/>
                </a:solidFill>
                <a:latin typeface="Calibri"/>
              </a:rPr>
              <a:t>Make the presentation unforgettable in 3 minutes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5486400" cy="4206240"/>
          </a:xfrm>
          <a:prstGeom prst="roundRect">
            <a:avLst>
              <a:gd name="adj" fmla="val 8000"/>
            </a:avLst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A6A0"/>
                </a:solidFill>
                <a:latin typeface="Calibri"/>
              </a:rPr>
              <a:t>Live demo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4937760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sz="1500">
                <a:solidFill>
                  <a:srgbClr val="E8EEF2"/>
                </a:solidFill>
                <a:latin typeface="Calibri"/>
              </a:rPr>
              <a:t>1.  Show live landmark overlay on webcam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E8EEF2"/>
                </a:solidFill>
                <a:latin typeface="Calibri"/>
              </a:rPr>
              <a:t>2.  Sign: need_help + water → polished sentence + voice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E8EEF2"/>
                </a:solidFill>
                <a:latin typeface="Calibri"/>
              </a:rPr>
              <a:t>3.  Speak: “thank you” → matching GIF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E8EEF2"/>
                </a:solidFill>
                <a:latin typeface="Calibri"/>
              </a:rPr>
              <a:t>4.  Press Emergency → flash + priority audio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E8EEF2"/>
                </a:solidFill>
                <a:latin typeface="Calibri"/>
              </a:rPr>
              <a:t>5.  Flash confusion-matrix / accuracy slide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71600"/>
            <a:ext cx="2697480" cy="1965960"/>
          </a:xfrm>
          <a:prstGeom prst="roundRect">
            <a:avLst>
              <a:gd name="adj" fmla="val 8000"/>
            </a:avLst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9164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5ED1CB"/>
                </a:solidFill>
                <a:latin typeface="Calibri"/>
              </a:rPr>
              <a:t>≥ 85%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42316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AB0C0"/>
                </a:solidFill>
                <a:latin typeface="Calibri"/>
              </a:rPr>
              <a:t>Val accuracy
on isolated clips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1371600"/>
            <a:ext cx="2697480" cy="1965960"/>
          </a:xfrm>
          <a:prstGeom prst="roundRect">
            <a:avLst>
              <a:gd name="adj" fmla="val 8000"/>
            </a:avLst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169164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5ED1CB"/>
                </a:solidFill>
                <a:latin typeface="Calibri"/>
              </a:rPr>
              <a:t>&lt; 500ms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42316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AB0C0"/>
                </a:solidFill>
                <a:latin typeface="Calibri"/>
              </a:rPr>
              <a:t>Gesture → token
latency target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520440"/>
            <a:ext cx="2697480" cy="1965960"/>
          </a:xfrm>
          <a:prstGeom prst="roundRect">
            <a:avLst>
              <a:gd name="adj" fmla="val 8000"/>
            </a:avLst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84048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5ED1CB"/>
                </a:solidFill>
                <a:latin typeface="Calibri"/>
              </a:rPr>
              <a:t>8–12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57200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AB0C0"/>
                </a:solidFill>
                <a:latin typeface="Calibri"/>
              </a:rPr>
              <a:t>Signs in v1
vocabulary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3520440"/>
            <a:ext cx="2697480" cy="1965960"/>
          </a:xfrm>
          <a:prstGeom prst="roundRect">
            <a:avLst>
              <a:gd name="adj" fmla="val 8000"/>
            </a:avLst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384048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5ED1CB"/>
                </a:solidFill>
                <a:latin typeface="Calibri"/>
              </a:rPr>
              <a:t>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457200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AB0C0"/>
                </a:solidFill>
                <a:latin typeface="Calibri"/>
              </a:rPr>
              <a:t>Emergency path
works offline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B0C0"/>
                </a:solidFill>
                <a:latin typeface="Calibri"/>
              </a:rPr>
              <a:t>Sign Language Communication Bridge  ·  Team Project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B0C0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331720"/>
            <a:ext cx="1828800" cy="73152"/>
          </a:xfrm>
          <a:prstGeom prst="rect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AB0C0"/>
                </a:solidFill>
                <a:latin typeface="Calibri"/>
              </a:rPr>
              <a:t>Real-time two-way sign language communication —
built to be researched, compared, and delivered as a team.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93192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</a:pPr>
            <a:r>
              <a:rPr sz="1300" b="1">
                <a:solidFill>
                  <a:srgbClr val="5ED1CB"/>
                </a:solidFill>
                <a:latin typeface="Calibri"/>
              </a:rPr>
              <a:t>Dynamic signs &gt; A–Z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393192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</a:pPr>
            <a:r>
              <a:rPr sz="1300" b="1">
                <a:solidFill>
                  <a:srgbClr val="5ED1CB"/>
                </a:solidFill>
                <a:latin typeface="Calibri"/>
              </a:rPr>
              <a:t>Two-way + LLM polish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393192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12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</a:pPr>
            <a:r>
              <a:rPr sz="1300" b="1">
                <a:solidFill>
                  <a:srgbClr val="5ED1CB"/>
                </a:solidFill>
                <a:latin typeface="Calibri"/>
              </a:rPr>
              <a:t>Clear 3-person ownership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937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EEF2"/>
                </a:solidFill>
                <a:latin typeface="Calibri"/>
              </a:rPr>
              <a:t>Questions?  ·  Full write-up in PROJECT_DOCUMENT.docx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760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B0C0"/>
                </a:solidFill>
                <a:latin typeface="Calibri"/>
              </a:rPr>
              <a:t>Docs · Code scaffold · Report outline · Research checklist — ready for your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